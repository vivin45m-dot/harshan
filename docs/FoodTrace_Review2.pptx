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2336dcc-2eaa-9fbb-0a4b-1caa926ec286}">
          <p14:sldIdLst>
            <p14:sldId id="256"/>
            <p14:sldId id="257"/>
            <p14:sldId id="258"/>
            <p14:sldId id="259"/>
            <p14:sldId id="260"/>
          </p14:sldIdLst>
        </p14:section>
        <p14:section name="System" id="{bd9384fa-7fce-66e7-f6ac-419c4547acdf}">
          <p14:sldIdLst>
            <p14:sldId id="261"/>
            <p14:sldId id="262"/>
            <p14:sldId id="263"/>
            <p14:sldId id="264"/>
          </p14:sldIdLst>
        </p14:section>
        <p14:section name="Method" id="{407a2d40-3a7f-082b-39ad-d12448adb27a}">
          <p14:sldIdLst>
            <p14:sldId id="265"/>
            <p14:sldId id="266"/>
            <p14:sldId id="267"/>
          </p14:sldIdLst>
        </p14:section>
        <p14:section name="Results" id="{02abcd05-5b33-40d3-2966-10834eb87016}">
          <p14:sldIdLst>
            <p14:sldId id="268"/>
            <p14:sldId id="269"/>
            <p14:sldId id="270"/>
            <p14:sldId id="271"/>
          </p14:sldIdLst>
        </p14:section>
        <p14:section name="Implementation" id="{7786ff2a-c194-c0e6-2ce9-72bbf28edd98}">
          <p14:sldIdLst>
            <p14:sldId id="272"/>
            <p14:sldId id="273"/>
            <p14:sldId id="274"/>
            <p14:sldId id="275"/>
          </p14:sldIdLst>
        </p14:section>
        <p14:section name="Conclusion" id="{cfdcddb6-c1dc-5603-649d-428c21063fd2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2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421"/>
                </a:solidFill>
                <a:latin typeface="+mn-lt"/>
              </a:rPr>
              <a:t>Nodes per origin country (top 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Mexico</c:v>
                  </c:pt>
                  <c:pt idx="1">
                    <c:v>Canada</c:v>
                  </c:pt>
                  <c:pt idx="2">
                    <c:v>Viet Nam</c:v>
                  </c:pt>
                  <c:pt idx="3">
                    <c:v>India</c:v>
                  </c:pt>
                  <c:pt idx="4">
                    <c:v>Indonesia</c:v>
                  </c:pt>
                  <c:pt idx="5">
                    <c:v>Guatemala</c:v>
                  </c:pt>
                  <c:pt idx="6">
                    <c:v>Peru</c:v>
                  </c:pt>
                  <c:pt idx="7">
                    <c:v>Thailand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11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2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421"/>
                </a:solidFill>
                <a:latin typeface="+mn-lt"/>
              </a:rPr>
              <a:t>Share of matched FDA recalls passing each check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 / batch code</c:v>
                  </c:pt>
                  <c:pt idx="1">
                    <c:v>Date (pack, best-by…)</c:v>
                  </c:pt>
                  <c:pt idx="2">
                    <c:v>Quantity with unit</c:v>
                  </c:pt>
                  <c:pt idx="3">
                    <c:v>Named distribution</c:v>
                  </c:pt>
                  <c:pt idx="4">
                    <c:v>Full firm address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51.9</c:v>
                </c:pt>
                <c:pt idx="1">
                  <c:v>46.4</c:v>
                </c:pt>
                <c:pt idx="2">
                  <c:v>73.2</c:v>
                </c:pt>
                <c:pt idx="3">
                  <c:v>82.9</c:v>
                </c:pt>
                <c:pt idx="4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A2421"/>
                </a:solidFill>
                <a:latin typeface="+mn-lt"/>
              </a:rPr>
              <a:t>MASE, test 2023-01 → 2026-07 (lower is better; 1 = seasonal naive)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MASE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8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8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8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FB8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8A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Evidential GRU</c:v>
                  </c:pt>
                  <c:pt idx="1">
                    <c:v>SARIMA</c:v>
                  </c:pt>
                  <c:pt idx="2">
                    <c:v>MC-dropout GRU</c:v>
                  </c:pt>
                  <c:pt idx="3">
                    <c:v>Naive</c:v>
                  </c:pt>
                  <c:pt idx="4">
                    <c:v>Seasonal naive</c:v>
                  </c:pt>
                  <c:pt idx="5">
                    <c:v>GRU, point only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0.773</c:v>
                </c:pt>
                <c:pt idx="1">
                  <c:v>0.794</c:v>
                </c:pt>
                <c:pt idx="2">
                  <c:v>0.868</c:v>
                </c:pt>
                <c:pt idx="3">
                  <c:v>0.92</c:v>
                </c:pt>
                <c:pt idx="4">
                  <c:v>1</c:v>
                </c:pt>
                <c:pt idx="5">
                  <c:v>1.024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2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421"/>
                </a:solidFill>
                <a:latin typeface="+mn-lt"/>
              </a:rPr>
              <a:t>Actual coverage vs nominal interval level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Nominal</c:v>
                </c:pt>
              </c:strCache>
            </c:strRef>
          </c:tx>
          <c:spPr>
            <a:solidFill>
              <a:srgbClr val="9FB8AD"/>
            </a:solidFill>
            <a:ln w="31750" cap="flat">
              <a:solidFill>
                <a:srgbClr val="9FB8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FB8AD"/>
              </a:solidFill>
              <a:ln w="9525" cap="flat">
                <a:solidFill>
                  <a:srgbClr val="9FB8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50%</c:v>
                  </c:pt>
                  <c:pt idx="1">
                    <c:v>80%</c:v>
                  </c:pt>
                  <c:pt idx="2">
                    <c:v>90%</c:v>
                  </c:pt>
                  <c:pt idx="3">
                    <c:v>95%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Evidential</c:v>
                </c:pt>
              </c:strCache>
            </c:strRef>
          </c:tx>
          <c:spPr>
            <a:solidFill>
              <a:srgbClr val="2E7D5B"/>
            </a:solidFill>
            <a:ln w="31750" cap="flat">
              <a:solidFill>
                <a:srgbClr val="2E7D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50%</c:v>
                  </c:pt>
                  <c:pt idx="1">
                    <c:v>80%</c:v>
                  </c:pt>
                  <c:pt idx="2">
                    <c:v>90%</c:v>
                  </c:pt>
                  <c:pt idx="3">
                    <c:v>95%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81.4</c:v>
                </c:pt>
                <c:pt idx="2">
                  <c:v>91.8</c:v>
                </c:pt>
                <c:pt idx="3">
                  <c:v>96.3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MC-dropout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50%</c:v>
                  </c:pt>
                  <c:pt idx="1">
                    <c:v>80%</c:v>
                  </c:pt>
                  <c:pt idx="2">
                    <c:v>90%</c:v>
                  </c:pt>
                  <c:pt idx="3">
                    <c:v>95%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56.6</c:v>
                </c:pt>
                <c:pt idx="1">
                  <c:v>80.8</c:v>
                </c:pt>
                <c:pt idx="2">
                  <c:v>87.6</c:v>
                </c:pt>
                <c:pt idx="3">
                  <c:v>91.6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SARIMA</c:v>
                </c:pt>
              </c:strCache>
            </c:strRef>
          </c:tx>
          <c:spPr>
            <a:solidFill>
              <a:srgbClr val="E05A3A"/>
            </a:solidFill>
            <a:ln w="31750" cap="flat">
              <a:solidFill>
                <a:srgbClr val="E05A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5A3A"/>
              </a:solidFill>
              <a:ln w="9525" cap="flat">
                <a:solidFill>
                  <a:srgbClr val="E05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50%</c:v>
                  </c:pt>
                  <c:pt idx="1">
                    <c:v>80%</c:v>
                  </c:pt>
                  <c:pt idx="2">
                    <c:v>90%</c:v>
                  </c:pt>
                  <c:pt idx="3">
                    <c:v>95%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51.1</c:v>
                </c:pt>
                <c:pt idx="1">
                  <c:v>76</c:v>
                </c:pt>
                <c:pt idx="2">
                  <c:v>83.5</c:v>
                </c:pt>
                <c:pt idx="3">
                  <c:v>88.3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6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66"/>
                    </a:solidFill>
                    <a:latin typeface="Arial"/>
                  </a:rPr>
                  <a:t>Nominal level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5"/>
        </c:scaling>
        <c:delete val="0"/>
        <c:axPos val="l"/>
        <c:majorGridlines>
          <c:spPr>
            <a:ln w="6350" cap="flat">
              <a:solidFill>
                <a:srgbClr val="E3E9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2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421"/>
                </a:solidFill>
                <a:latin typeface="+mn-lt"/>
              </a:rPr>
              <a:t>73 nodes, main fold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epistemic uncertainty (test period)</c:v>
                </c:pt>
              </c:strCache>
            </c:strRef>
          </c:tx>
          <c:spPr>
            <a:solidFill>
              <a:srgbClr val="3A6EA5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xVal>
            <c:numRef>
              <c:f>Sheet1!$A$2:$A$74</c:f>
              <c:numCache>
                <c:formatCode>General</c:formatCode>
                <c:ptCount val="73"/>
                <c:pt idx="0">
                  <c:v>0.111</c:v>
                </c:pt>
                <c:pt idx="1">
                  <c:v>0.111</c:v>
                </c:pt>
                <c:pt idx="2">
                  <c:v>0.137</c:v>
                </c:pt>
                <c:pt idx="3">
                  <c:v>0.137</c:v>
                </c:pt>
                <c:pt idx="4">
                  <c:v>0.137</c:v>
                </c:pt>
                <c:pt idx="5">
                  <c:v>0.137</c:v>
                </c:pt>
                <c:pt idx="6">
                  <c:v>0.103</c:v>
                </c:pt>
                <c:pt idx="7">
                  <c:v>0.103</c:v>
                </c:pt>
                <c:pt idx="8">
                  <c:v>0.103</c:v>
                </c:pt>
                <c:pt idx="9">
                  <c:v>0.025</c:v>
                </c:pt>
                <c:pt idx="10">
                  <c:v>0.025</c:v>
                </c:pt>
                <c:pt idx="11">
                  <c:v>0.025</c:v>
                </c:pt>
                <c:pt idx="12">
                  <c:v>0.025</c:v>
                </c:pt>
                <c:pt idx="13">
                  <c:v>0.025</c:v>
                </c:pt>
                <c:pt idx="14">
                  <c:v>0.123</c:v>
                </c:pt>
                <c:pt idx="15">
                  <c:v>0.123</c:v>
                </c:pt>
                <c:pt idx="16">
                  <c:v>0.103</c:v>
                </c:pt>
                <c:pt idx="17">
                  <c:v>0.146</c:v>
                </c:pt>
                <c:pt idx="18">
                  <c:v>0.175</c:v>
                </c:pt>
                <c:pt idx="19">
                  <c:v>0.143</c:v>
                </c:pt>
                <c:pt idx="20">
                  <c:v>0.143</c:v>
                </c:pt>
                <c:pt idx="21">
                  <c:v>0.102</c:v>
                </c:pt>
                <c:pt idx="22">
                  <c:v>0.143</c:v>
                </c:pt>
                <c:pt idx="23">
                  <c:v>0.143</c:v>
                </c:pt>
                <c:pt idx="24">
                  <c:v>0.143</c:v>
                </c:pt>
                <c:pt idx="25">
                  <c:v>0.415</c:v>
                </c:pt>
                <c:pt idx="26">
                  <c:v>0.582</c:v>
                </c:pt>
                <c:pt idx="27">
                  <c:v>0.512</c:v>
                </c:pt>
                <c:pt idx="28">
                  <c:v>0.415</c:v>
                </c:pt>
                <c:pt idx="29">
                  <c:v>0.174</c:v>
                </c:pt>
                <c:pt idx="30">
                  <c:v>0.174</c:v>
                </c:pt>
                <c:pt idx="31">
                  <c:v>0.036</c:v>
                </c:pt>
                <c:pt idx="32">
                  <c:v>0.086</c:v>
                </c:pt>
                <c:pt idx="33">
                  <c:v>0.155</c:v>
                </c:pt>
                <c:pt idx="34">
                  <c:v>0.157</c:v>
                </c:pt>
                <c:pt idx="35">
                  <c:v>0.337</c:v>
                </c:pt>
                <c:pt idx="36">
                  <c:v>0.267</c:v>
                </c:pt>
                <c:pt idx="37">
                  <c:v>0.071</c:v>
                </c:pt>
                <c:pt idx="38">
                  <c:v>0.056</c:v>
                </c:pt>
                <c:pt idx="39">
                  <c:v>0.04</c:v>
                </c:pt>
                <c:pt idx="40">
                  <c:v>0.04</c:v>
                </c:pt>
                <c:pt idx="41">
                  <c:v>0.04</c:v>
                </c:pt>
                <c:pt idx="42">
                  <c:v>0.149</c:v>
                </c:pt>
                <c:pt idx="43">
                  <c:v>0.106</c:v>
                </c:pt>
                <c:pt idx="44">
                  <c:v>0.03</c:v>
                </c:pt>
                <c:pt idx="45">
                  <c:v>0.03</c:v>
                </c:pt>
                <c:pt idx="46">
                  <c:v>0.03</c:v>
                </c:pt>
                <c:pt idx="47">
                  <c:v>0.03</c:v>
                </c:pt>
                <c:pt idx="48">
                  <c:v>0.03</c:v>
                </c:pt>
                <c:pt idx="49">
                  <c:v>0.057</c:v>
                </c:pt>
                <c:pt idx="50">
                  <c:v>0.143</c:v>
                </c:pt>
                <c:pt idx="51">
                  <c:v>0.116</c:v>
                </c:pt>
                <c:pt idx="52">
                  <c:v>0.116</c:v>
                </c:pt>
                <c:pt idx="53">
                  <c:v>0.097</c:v>
                </c:pt>
                <c:pt idx="54">
                  <c:v>0.116</c:v>
                </c:pt>
                <c:pt idx="55">
                  <c:v>0.116</c:v>
                </c:pt>
                <c:pt idx="56">
                  <c:v>0.108</c:v>
                </c:pt>
                <c:pt idx="57">
                  <c:v>0.067</c:v>
                </c:pt>
                <c:pt idx="58">
                  <c:v>0.09</c:v>
                </c:pt>
                <c:pt idx="59">
                  <c:v>0.108</c:v>
                </c:pt>
                <c:pt idx="60">
                  <c:v>0.09</c:v>
                </c:pt>
                <c:pt idx="61">
                  <c:v>0.108</c:v>
                </c:pt>
                <c:pt idx="62">
                  <c:v>0.362</c:v>
                </c:pt>
                <c:pt idx="63">
                  <c:v>0.234</c:v>
                </c:pt>
                <c:pt idx="64">
                  <c:v>0.358</c:v>
                </c:pt>
                <c:pt idx="65">
                  <c:v>0.191</c:v>
                </c:pt>
                <c:pt idx="66">
                  <c:v>0.159</c:v>
                </c:pt>
                <c:pt idx="67">
                  <c:v>0.227</c:v>
                </c:pt>
                <c:pt idx="68">
                  <c:v>0.235</c:v>
                </c:pt>
                <c:pt idx="69">
                  <c:v>0.235</c:v>
                </c:pt>
                <c:pt idx="70">
                  <c:v>0.362</c:v>
                </c:pt>
                <c:pt idx="71">
                  <c:v>0.362</c:v>
                </c:pt>
                <c:pt idx="72">
                  <c:v>0.235</c:v>
                </c:pt>
              </c:numCache>
            </c:numRef>
          </c:xVal>
          <c:yVal>
            <c:numRef>
              <c:f>Sheet1!$B$2:$B$74</c:f>
              <c:numCache>
                <c:formatCode>General</c:formatCode>
                <c:ptCount val="73"/>
                <c:pt idx="0">
                  <c:v>1.835</c:v>
                </c:pt>
                <c:pt idx="1">
                  <c:v>1.669</c:v>
                </c:pt>
                <c:pt idx="2">
                  <c:v>4.04</c:v>
                </c:pt>
                <c:pt idx="3">
                  <c:v>2.768</c:v>
                </c:pt>
                <c:pt idx="4">
                  <c:v>3.021</c:v>
                </c:pt>
                <c:pt idx="5">
                  <c:v>1.946</c:v>
                </c:pt>
                <c:pt idx="6">
                  <c:v>3.647</c:v>
                </c:pt>
                <c:pt idx="7">
                  <c:v>2.639</c:v>
                </c:pt>
                <c:pt idx="8">
                  <c:v>1.684</c:v>
                </c:pt>
                <c:pt idx="9">
                  <c:v>2.795</c:v>
                </c:pt>
                <c:pt idx="10">
                  <c:v>3.713</c:v>
                </c:pt>
                <c:pt idx="11">
                  <c:v>4.962</c:v>
                </c:pt>
                <c:pt idx="12">
                  <c:v>4.085</c:v>
                </c:pt>
                <c:pt idx="13">
                  <c:v>2.905</c:v>
                </c:pt>
                <c:pt idx="14">
                  <c:v>1.54</c:v>
                </c:pt>
                <c:pt idx="15">
                  <c:v>3.05</c:v>
                </c:pt>
                <c:pt idx="16">
                  <c:v>1.876</c:v>
                </c:pt>
                <c:pt idx="17">
                  <c:v>1.811</c:v>
                </c:pt>
                <c:pt idx="18">
                  <c:v>2.738</c:v>
                </c:pt>
                <c:pt idx="19">
                  <c:v>3.522</c:v>
                </c:pt>
                <c:pt idx="20">
                  <c:v>3.602</c:v>
                </c:pt>
                <c:pt idx="21">
                  <c:v>1.685</c:v>
                </c:pt>
                <c:pt idx="22">
                  <c:v>1.678</c:v>
                </c:pt>
                <c:pt idx="23">
                  <c:v>3.459</c:v>
                </c:pt>
                <c:pt idx="24">
                  <c:v>3.821</c:v>
                </c:pt>
                <c:pt idx="25">
                  <c:v>3.096</c:v>
                </c:pt>
                <c:pt idx="26">
                  <c:v>2.947</c:v>
                </c:pt>
                <c:pt idx="27">
                  <c:v>1.957</c:v>
                </c:pt>
                <c:pt idx="28">
                  <c:v>3.628</c:v>
                </c:pt>
                <c:pt idx="29">
                  <c:v>3.128</c:v>
                </c:pt>
                <c:pt idx="30">
                  <c:v>1.975</c:v>
                </c:pt>
                <c:pt idx="31">
                  <c:v>2.657</c:v>
                </c:pt>
                <c:pt idx="32">
                  <c:v>2.074</c:v>
                </c:pt>
                <c:pt idx="33">
                  <c:v>2.114</c:v>
                </c:pt>
                <c:pt idx="34">
                  <c:v>2.374</c:v>
                </c:pt>
                <c:pt idx="35">
                  <c:v>2.445</c:v>
                </c:pt>
                <c:pt idx="36">
                  <c:v>2.573</c:v>
                </c:pt>
                <c:pt idx="37">
                  <c:v>2.012</c:v>
                </c:pt>
                <c:pt idx="38">
                  <c:v>2.498</c:v>
                </c:pt>
                <c:pt idx="39">
                  <c:v>1.83</c:v>
                </c:pt>
                <c:pt idx="40">
                  <c:v>2.014</c:v>
                </c:pt>
                <c:pt idx="41">
                  <c:v>2.713</c:v>
                </c:pt>
                <c:pt idx="42">
                  <c:v>3.374</c:v>
                </c:pt>
                <c:pt idx="43">
                  <c:v>1.594</c:v>
                </c:pt>
                <c:pt idx="44">
                  <c:v>3.515</c:v>
                </c:pt>
                <c:pt idx="45">
                  <c:v>2.155</c:v>
                </c:pt>
                <c:pt idx="46">
                  <c:v>4.399</c:v>
                </c:pt>
                <c:pt idx="47">
                  <c:v>2.805</c:v>
                </c:pt>
                <c:pt idx="48">
                  <c:v>1.58</c:v>
                </c:pt>
                <c:pt idx="49">
                  <c:v>2.318</c:v>
                </c:pt>
                <c:pt idx="50">
                  <c:v>1.924</c:v>
                </c:pt>
                <c:pt idx="51">
                  <c:v>3.081</c:v>
                </c:pt>
                <c:pt idx="52">
                  <c:v>3.1</c:v>
                </c:pt>
                <c:pt idx="53">
                  <c:v>4.378</c:v>
                </c:pt>
                <c:pt idx="54">
                  <c:v>2.937</c:v>
                </c:pt>
                <c:pt idx="55">
                  <c:v>2.568</c:v>
                </c:pt>
                <c:pt idx="56">
                  <c:v>1.48</c:v>
                </c:pt>
                <c:pt idx="57">
                  <c:v>1.949</c:v>
                </c:pt>
                <c:pt idx="58">
                  <c:v>2.448</c:v>
                </c:pt>
                <c:pt idx="59">
                  <c:v>3.21</c:v>
                </c:pt>
                <c:pt idx="60">
                  <c:v>3.53</c:v>
                </c:pt>
                <c:pt idx="61">
                  <c:v>2.535</c:v>
                </c:pt>
                <c:pt idx="62">
                  <c:v>1.887</c:v>
                </c:pt>
                <c:pt idx="63">
                  <c:v>2.093</c:v>
                </c:pt>
                <c:pt idx="64">
                  <c:v>2.314</c:v>
                </c:pt>
                <c:pt idx="65">
                  <c:v>2.117</c:v>
                </c:pt>
                <c:pt idx="66">
                  <c:v>1.716</c:v>
                </c:pt>
                <c:pt idx="67">
                  <c:v>2.044</c:v>
                </c:pt>
                <c:pt idx="68">
                  <c:v>2.037</c:v>
                </c:pt>
                <c:pt idx="69">
                  <c:v>3.413</c:v>
                </c:pt>
                <c:pt idx="70">
                  <c:v>4.214</c:v>
                </c:pt>
                <c:pt idx="71">
                  <c:v>1.935</c:v>
                </c:pt>
                <c:pt idx="72">
                  <c:v>1.792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6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6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66"/>
                    </a:solidFill>
                    <a:latin typeface="Arial"/>
                  </a:rPr>
                  <a:t>Node verification ratio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3E9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6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66"/>
                    </a:solidFill>
                    <a:latin typeface="Arial"/>
                  </a:rPr>
                  <a:t>Epistemic uncertainty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Ledger chain</c:v>
                  </c:pt>
                  <c:pt idx="1">
                    <c:v>Matching &amp; checks</c:v>
                  </c:pt>
                  <c:pt idx="2">
                    <c:v>Evidential maths</c:v>
                  </c:pt>
                  <c:pt idx="3">
                    <c:v>API end-to-end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FoodTrace  ·  PAMCA698 Review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PAMCA698  ·  DISSERTATION I  ·  REVIEW 2  ·  07.10.2026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Uncertainty in Food Import Demand Forecasting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Deep evidential regression with a SHA-256 provenance ledger  —  FoodTrace</a:t>
            </a:r>
            <a:endParaRPr lang="en-US" sz="1600" dirty="0"/>
          </a:p>
        </p:txBody>
      </p:sp>
      <p:sp>
        <p:nvSpPr>
          <p:cNvPr id="5" name="title circle"/>
          <p:cNvSpPr/>
          <p:nvPr/>
        </p:nvSpPr>
        <p:spPr>
          <a:xfrm>
            <a:off x="7635240" y="1143000"/>
            <a:ext cx="960120" cy="9601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6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137342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429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&lt;Student Name&gt;  ·  &lt;Reg. No.&gt;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Guide: Dr Karthikeyan P, Professor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Department of Computer Applications, School of Computer Science Engineering and Information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a point forecast hides when it is wrong</a:t>
            </a:r>
            <a:endParaRPr lang="en-US" sz="26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1 circle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pic>
        <p:nvPicPr>
          <p:cNvPr id="5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4575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Silent unreliability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Point forecasts look identical whether the data support them or not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Recalls and outbreaks shift import demand abruptly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Planners, insurers and lenders get no signal to discount the number</a:t>
            </a:r>
            <a:endParaRPr lang="en-US" sz="1300" dirty="0"/>
          </a:p>
        </p:txBody>
      </p:sp>
      <p:sp>
        <p:nvSpPr>
          <p:cNvPr id="8" name="problem card 2"/>
          <p:cNvSpPr/>
          <p:nvPr/>
        </p:nvSpPr>
        <p:spPr>
          <a:xfrm>
            <a:off x="466344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 2 circle"/>
          <p:cNvSpPr/>
          <p:nvPr/>
        </p:nvSpPr>
        <p:spPr>
          <a:xfrm>
            <a:off x="4937760" y="132588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0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4575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325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Traceability has no measured value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574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Provenance systems are justified on qualitative grounds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evidence links record completeness to forecast reliability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 traceability cannot be priced as a risk reducer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Goal: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demand forecast that also states how far it can be trusted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scope</a:t>
            </a:r>
            <a:endParaRPr lang="en-US" sz="2600" dirty="0"/>
          </a:p>
        </p:txBody>
      </p:sp>
      <p:sp>
        <p:nvSpPr>
          <p:cNvPr id="3" name="objective number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Forecast monthly US food imports per supply node with aleatoric and epistemic uncertainty in one pass</a:t>
            </a:r>
            <a:endParaRPr lang="en-US" sz="1300" dirty="0"/>
          </a:p>
        </p:txBody>
      </p:sp>
      <p:sp>
        <p:nvSpPr>
          <p:cNvPr id="6" name="objective number 2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Store every input record in a tamper-evident proof-of-work ledger</a:t>
            </a:r>
            <a:endParaRPr lang="en-US" sz="1300" dirty="0"/>
          </a:p>
        </p:txBody>
      </p:sp>
      <p:sp>
        <p:nvSpPr>
          <p:cNvPr id="9" name="objective number 3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whether traceability completeness lowers epistemic uncertainty</a:t>
            </a:r>
            <a:endParaRPr lang="en-US" sz="1300" dirty="0"/>
          </a:p>
        </p:txBody>
      </p:sp>
      <p:sp>
        <p:nvSpPr>
          <p:cNvPr id="12" name="objective number 4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20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whether uncertainty rises in the months before an FDA recall</a:t>
            </a:r>
            <a:endParaRPr lang="en-US" sz="1300" dirty="0"/>
          </a:p>
        </p:txBody>
      </p:sp>
      <p:sp>
        <p:nvSpPr>
          <p:cNvPr id="15" name="scope in card"/>
          <p:cNvSpPr/>
          <p:nvPr/>
        </p:nvSpPr>
        <p:spPr>
          <a:xfrm>
            <a:off x="5257800" y="1051560"/>
            <a:ext cx="34290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 scope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08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23 commodities, 30 origin countries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Jan 2016 – Jul 2026, monthly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Public data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API + web dashboard</a:t>
            </a:r>
            <a:endParaRPr lang="en-US" sz="1200" dirty="0"/>
          </a:p>
        </p:txBody>
      </p:sp>
      <p:sp>
        <p:nvSpPr>
          <p:cNvPr id="18" name="scope out card"/>
          <p:cNvSpPr/>
          <p:nvPr/>
        </p:nvSpPr>
        <p:spPr>
          <a:xfrm>
            <a:off x="5257800" y="2971800"/>
            <a:ext cx="34290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Out of scope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Retail sales demand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Real blockchain shipment logs (none public)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Credit-risk pricing (future work)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and hypotheses</a:t>
            </a:r>
            <a:endParaRPr lang="en-US" sz="2600" dirty="0"/>
          </a:p>
        </p:txBody>
      </p:sp>
      <p:sp>
        <p:nvSpPr>
          <p:cNvPr id="3" name="hypothesis card H1"/>
          <p:cNvSpPr/>
          <p:nvPr/>
        </p:nvSpPr>
        <p:spPr>
          <a:xfrm>
            <a:off x="45720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1 tag"/>
          <p:cNvSpPr/>
          <p:nvPr/>
        </p:nvSpPr>
        <p:spPr>
          <a:xfrm>
            <a:off x="685800" y="1325880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Traceability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Nodes with more complete traceability records have lower epistemic uncertainty</a:t>
            </a:r>
            <a:endParaRPr lang="en-US" sz="1300" dirty="0"/>
          </a:p>
        </p:txBody>
      </p:sp>
      <p:sp>
        <p:nvSpPr>
          <p:cNvPr id="8" name="hypothesis card H2"/>
          <p:cNvSpPr/>
          <p:nvPr/>
        </p:nvSpPr>
        <p:spPr>
          <a:xfrm>
            <a:off x="324612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2 tag"/>
          <p:cNvSpPr/>
          <p:nvPr/>
        </p:nvSpPr>
        <p:spPr>
          <a:xfrm>
            <a:off x="3474720" y="1325880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25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Lead signal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Epistemic uncertainty rises in the 3 months before an FDA recall is initiated</a:t>
            </a:r>
            <a:endParaRPr lang="en-US" sz="1300" dirty="0"/>
          </a:p>
        </p:txBody>
      </p:sp>
      <p:sp>
        <p:nvSpPr>
          <p:cNvPr id="13" name="hypothesis card H3"/>
          <p:cNvSpPr/>
          <p:nvPr/>
        </p:nvSpPr>
        <p:spPr>
          <a:xfrm>
            <a:off x="603504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3 tag"/>
          <p:cNvSpPr/>
          <p:nvPr/>
        </p:nvSpPr>
        <p:spPr>
          <a:xfrm>
            <a:off x="6263640" y="1325880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325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Perishability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H1 gap is concentrated in perishable commodities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Plus two checks: is the evidential model as accurate as the baselines, and are its intervals calibrated?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foundations</a:t>
            </a:r>
            <a:endParaRPr lang="en-US" sz="2600" dirty="0"/>
          </a:p>
        </p:txBody>
      </p:sp>
      <p:graphicFrame>
        <p:nvGraphicFramePr>
          <p:cNvPr id="6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Used in this project for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Amini et al., 2020 — Deep Evidential Regression (NeurIPS)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NIG output head and loss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Kuleshov et al., 2018 — Calibrated regression (ICML)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Interval calibration, PICP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Gal &amp; Ghahramani, 2016 — Dropout as Bayesian approximation (ICML)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MC-dropout baseline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Cho et al., 2014 — GRU encoder–decoder (EMNLP)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Sequence encoder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Box &amp; Jenkins — Time Series Analysis (SARIMA)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Classical baseline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Hyndman &amp; Koehler, 2006 — Measures of forecast accuracy (IJF)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MASE metric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Nakamoto, 2008 — Bitcoin: peer-to-peer electronic cash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Proof of work, Merkle roots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US FDA, 2022 — FSMA §204 Food Traceability Rule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Key Data Elements → “verified”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Full survey (15+ papers with merits and demerits) is in the Review 2 report.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real, public data sources</a:t>
            </a:r>
            <a:endParaRPr lang="en-US" sz="2600" dirty="0"/>
          </a:p>
        </p:txBody>
      </p:sp>
      <p:sp>
        <p:nvSpPr>
          <p:cNvPr id="3" name="data card 1"/>
          <p:cNvSpPr/>
          <p:nvPr/>
        </p:nvSpPr>
        <p:spPr>
          <a:xfrm>
            <a:off x="457200" y="105156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a 1 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5" name="data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008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UN Comtrade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months of imports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 imports by HS6 code × origin country, net weight in kg, Jan 2016 – Jul 2026</a:t>
            </a:r>
            <a:endParaRPr lang="en-US" sz="1200" dirty="0"/>
          </a:p>
        </p:txBody>
      </p:sp>
      <p:sp>
        <p:nvSpPr>
          <p:cNvPr id="10" name="data card 2"/>
          <p:cNvSpPr/>
          <p:nvPr/>
        </p:nvSpPr>
        <p:spPr>
          <a:xfrm>
            <a:off x="3246120" y="105156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ata 2 circle"/>
          <p:cNvSpPr/>
          <p:nvPr/>
        </p:nvSpPr>
        <p:spPr>
          <a:xfrm>
            <a:off x="3474720" y="1280160"/>
            <a:ext cx="502920" cy="502920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pic>
        <p:nvPicPr>
          <p:cNvPr id="12" name="data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40086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1480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openFDA enforcement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2,661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FDA recalls matched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From 29,471 food recall records; 13.5% pass all five traceability checks</a:t>
            </a:r>
            <a:endParaRPr lang="en-US" sz="1200" dirty="0"/>
          </a:p>
        </p:txBody>
      </p:sp>
      <p:sp>
        <p:nvSpPr>
          <p:cNvPr id="17" name="data card 3"/>
          <p:cNvSpPr/>
          <p:nvPr/>
        </p:nvSpPr>
        <p:spPr>
          <a:xfrm>
            <a:off x="6035040" y="105156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ata 3 circle"/>
          <p:cNvSpPr/>
          <p:nvPr/>
        </p:nvSpPr>
        <p:spPr>
          <a:xfrm>
            <a:off x="6263640" y="128016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9" name="data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40086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0372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CDC NORS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1,923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outbreaks matched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Foodborne outbreaks with the implicated food; stored on the ledger, kept out of model inputs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1"/>
                </a:solidFill>
              </a:rPr>
              <a:t>No synthetic records anywhere in the pipeline.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pic>
        <p:nvPicPr>
          <p:cNvPr id="3" name="architecture diagram" descr="D:/harshancapstone/docs/figu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767" y="914400"/>
            <a:ext cx="4992466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supply nodes: one commodity from one origin</a:t>
            </a:r>
            <a:endParaRPr lang="en-US" sz="2600" dirty="0"/>
          </a:p>
        </p:txBody>
      </p:sp>
      <p:sp>
        <p:nvSpPr>
          <p:cNvPr id="3" name="node rules card"/>
          <p:cNvSpPr/>
          <p:nvPr/>
        </p:nvSpPr>
        <p:spPr>
          <a:xfrm>
            <a:off x="457200" y="1051560"/>
            <a:ext cx="3291840" cy="35204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nodes · 23 commodities · 30 countries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country becomes a node when it: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supplies ≥ 2% of the commodity's US imports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ships in ≥ 85% of months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is in the top 6 origins for that commodity</a:t>
            </a:r>
            <a:endParaRPr lang="en-US" sz="1300" dirty="0"/>
          </a:p>
        </p:txBody>
      </p:sp>
      <p:graphicFrame>
        <p:nvGraphicFramePr>
          <p:cNvPr id="8" name="nodes by country chart" descr=""/>
          <p:cNvGraphicFramePr/>
          <p:nvPr/>
        </p:nvGraphicFramePr>
        <p:xfrm>
          <a:off x="4023360" y="1005840"/>
          <a:ext cx="46634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“verified” means: FSMA §204 record checks</a:t>
            </a:r>
            <a:endParaRPr lang="en-US" sz="2600" dirty="0"/>
          </a:p>
        </p:txBody>
      </p:sp>
      <p:graphicFrame>
        <p:nvGraphicFramePr>
          <p:cNvPr id="3" name="check pass rate chart" descr=""/>
          <p:cNvGraphicFramePr/>
          <p:nvPr/>
        </p:nvGraphicFramePr>
        <p:xfrm>
          <a:off x="365760" y="100584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verified stat card"/>
          <p:cNvSpPr/>
          <p:nvPr/>
        </p:nvSpPr>
        <p:spPr>
          <a:xfrm>
            <a:off x="5577840" y="1051560"/>
            <a:ext cx="31089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1143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pass all five checks = verified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7432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Node verification ratio = verified share of its recall records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Shrunk toward the commodity rate when records are few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Uses only recalls published before the training cut-off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Evidential model: one pass, two uncertainties</a:t>
            </a:r>
            <a:endParaRPr lang="en-US" sz="2600" dirty="0"/>
          </a:p>
        </p:txBody>
      </p:sp>
      <p:sp>
        <p:nvSpPr>
          <p:cNvPr id="3" name="flow step 1"/>
          <p:cNvSpPr/>
          <p:nvPr/>
        </p:nvSpPr>
        <p:spPr>
          <a:xfrm>
            <a:off x="45720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Input window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24 months: log imports, calendar month, recalls already published</a:t>
            </a:r>
            <a:endParaRPr lang="en-US" sz="1150" dirty="0"/>
          </a:p>
        </p:txBody>
      </p:sp>
      <p:sp>
        <p:nvSpPr>
          <p:cNvPr id="6" name="flow arrow 1"/>
          <p:cNvSpPr/>
          <p:nvPr/>
        </p:nvSpPr>
        <p:spPr>
          <a:xfrm rot="5400000">
            <a:off x="2350008" y="1691640"/>
            <a:ext cx="201168" cy="27432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60604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207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GRU encoder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57276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 layers, 64 units, + verification ratio, perishability, volume</a:t>
            </a:r>
            <a:endParaRPr lang="en-US" sz="1150" dirty="0"/>
          </a:p>
        </p:txBody>
      </p:sp>
      <p:sp>
        <p:nvSpPr>
          <p:cNvPr id="10" name="flow arrow 2"/>
          <p:cNvSpPr/>
          <p:nvPr/>
        </p:nvSpPr>
        <p:spPr>
          <a:xfrm rot="5400000">
            <a:off x="4498848" y="1691640"/>
            <a:ext cx="201168" cy="27432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step 3"/>
          <p:cNvSpPr/>
          <p:nvPr/>
        </p:nvSpPr>
        <p:spPr>
          <a:xfrm>
            <a:off x="475488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07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Evidential head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57276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γ, ν, α, β of a Normal-Inverse-Gamma distribution</a:t>
            </a:r>
            <a:endParaRPr lang="en-US" sz="1150" dirty="0"/>
          </a:p>
        </p:txBody>
      </p:sp>
      <p:sp>
        <p:nvSpPr>
          <p:cNvPr id="14" name="flow arrow 3"/>
          <p:cNvSpPr/>
          <p:nvPr/>
        </p:nvSpPr>
        <p:spPr>
          <a:xfrm rot="5400000">
            <a:off x="6647688" y="1691640"/>
            <a:ext cx="201168" cy="27432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step 4"/>
          <p:cNvSpPr/>
          <p:nvPr/>
        </p:nvSpPr>
        <p:spPr>
          <a:xfrm>
            <a:off x="690372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207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Read-out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57276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Forecast γ · aleatoric β/(α−1) · epistemic β/(ν(α−1))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80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Loss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NIG negative log-likelihood + λ·|y−γ|·(2ν+α)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880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λ = 0.1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chosen on the 2022 validation year by interval calibration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576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No node ID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node embedding, so the model cannot memorise nodes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6576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Status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unreliable if epistemic ≥ 80th pct of validation; volatile if aleatoric is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ledger: every input is tamper-evident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051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blocks, one per month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11,484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records hashed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000…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proof of work, difficulty 3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9,271 shipments · 1,676 recalls · 537 outbreaks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03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 → SHA-256 leaf → Merkle root → block hash → next block's link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Tamper demo edits one field; verify names the exact block</a:t>
            </a:r>
            <a:endParaRPr lang="en-US" sz="1200" dirty="0"/>
          </a:p>
        </p:txBody>
      </p:sp>
      <p:pic>
        <p:nvPicPr>
          <p:cNvPr id="11" name="ledger screenshot" descr="D:/harshancapstone/.scratch/deck/shots/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05890"/>
            <a:ext cx="4572000" cy="2857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design: rolling origin, split by time</a:t>
            </a:r>
            <a:endParaRPr lang="en-US" sz="2600" dirty="0"/>
          </a:p>
        </p:txBody>
      </p:sp>
      <p:graphicFrame>
        <p:nvGraphicFramePr>
          <p:cNvPr id="13" name="fol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Fold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Train targets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2021-22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2018-01 → 2019-12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2020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2021-01 → 2022-12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2023-26 (main)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2018-01 → 2021-12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2022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21"/>
                          </a:solidFill>
                        </a:rPr>
                        <a:t>2023-01 → 2026-07</a:t>
                      </a:r>
                      <a:endParaRPr lang="en-US" sz="12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eval card Baselines"/>
          <p:cNvSpPr/>
          <p:nvPr/>
        </p:nvSpPr>
        <p:spPr>
          <a:xfrm>
            <a:off x="457200" y="237744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val Baselines circle"/>
          <p:cNvSpPr/>
          <p:nvPr/>
        </p:nvSpPr>
        <p:spPr>
          <a:xfrm>
            <a:off x="640080" y="2514600"/>
            <a:ext cx="411480" cy="41148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eval Baselin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2613355"/>
            <a:ext cx="213970" cy="2139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Baselines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063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Naive, seasonal naive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SARIMA(1,0,1)(1,0,0)₁₂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Same GRU, point head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MC-dropout GRU, 50 passes</a:t>
            </a:r>
            <a:endParaRPr lang="en-US" sz="1150" dirty="0"/>
          </a:p>
        </p:txBody>
      </p:sp>
      <p:sp>
        <p:nvSpPr>
          <p:cNvPr id="9" name="eval card Metrics"/>
          <p:cNvSpPr/>
          <p:nvPr/>
        </p:nvSpPr>
        <p:spPr>
          <a:xfrm>
            <a:off x="3246120" y="237744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val Metrics circle"/>
          <p:cNvSpPr/>
          <p:nvPr/>
        </p:nvSpPr>
        <p:spPr>
          <a:xfrm>
            <a:off x="3429000" y="2514600"/>
            <a:ext cx="411480" cy="4114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11" name="eval Metric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55" y="261335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Metrics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3063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MAE, RMSE, MAPE, WAPE, MASE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NLL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Interval coverage (PICP) and width at 50 / 80 / 90 / 95%</a:t>
            </a:r>
            <a:endParaRPr lang="en-US" sz="1150" dirty="0"/>
          </a:p>
        </p:txBody>
      </p:sp>
      <p:sp>
        <p:nvSpPr>
          <p:cNvPr id="14" name="eval card Tests"/>
          <p:cNvSpPr/>
          <p:nvPr/>
        </p:nvSpPr>
        <p:spPr>
          <a:xfrm>
            <a:off x="6035040" y="237744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val Tests circle"/>
          <p:cNvSpPr/>
          <p:nvPr/>
        </p:nvSpPr>
        <p:spPr>
          <a:xfrm>
            <a:off x="6217920" y="2514600"/>
            <a:ext cx="411480" cy="411480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pic>
        <p:nvPicPr>
          <p:cNvPr id="16" name="eval Test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675" y="2613355"/>
            <a:ext cx="213970" cy="21397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3063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H1: Mann-Whitney U, OLS (HC3)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H2: Wilcoxon signed-rank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H3: Mann-Whitney by group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3 seeds for stability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evidential GRU has the lowest MASE</a:t>
            </a:r>
            <a:endParaRPr lang="en-US" sz="2600" dirty="0"/>
          </a:p>
        </p:txBody>
      </p:sp>
      <p:graphicFrame>
        <p:nvGraphicFramePr>
          <p:cNvPr id="3" name="MASE chart" descr=""/>
          <p:cNvGraphicFramePr/>
          <p:nvPr/>
        </p:nvGraphicFramePr>
        <p:xfrm>
          <a:off x="365760" y="1005840"/>
          <a:ext cx="4937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accura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97280"/>
          <a:ext cx="3108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WAPE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NLL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421"/>
                          </a:solidFill>
                        </a:rPr>
                        <a:t>Evidential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2421"/>
                          </a:solidFill>
                        </a:rPr>
                        <a:t>15.9%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2421"/>
                          </a:solidFill>
                        </a:rPr>
                        <a:t>1.129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SARIMA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15.8%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1.813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MC-dropout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16.9%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1.630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Naive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21.3%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2421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577840" y="29260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3,139 test forecasts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SARIMA is close on point accuracy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Seed stability: MAE (log) 0.651 ± 0.007 over 3 seeds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Calibration: intervals keep their stated coverage</a:t>
            </a:r>
            <a:endParaRPr lang="en-US" sz="2600" dirty="0"/>
          </a:p>
        </p:txBody>
      </p:sp>
      <p:graphicFrame>
        <p:nvGraphicFramePr>
          <p:cNvPr id="3" name="coverage chart" descr=""/>
          <p:cNvGraphicFramePr/>
          <p:nvPr/>
        </p:nvGraphicFramePr>
        <p:xfrm>
          <a:off x="365760" y="100584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ibration stat 1"/>
          <p:cNvSpPr/>
          <p:nvPr/>
        </p:nvSpPr>
        <p:spPr>
          <a:xfrm>
            <a:off x="5760720" y="109728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evidential coverage of the 90% interval</a:t>
            </a:r>
            <a:endParaRPr lang="en-US" sz="1100" dirty="0"/>
          </a:p>
        </p:txBody>
      </p:sp>
      <p:sp>
        <p:nvSpPr>
          <p:cNvPr id="7" name="calibration stat 2"/>
          <p:cNvSpPr/>
          <p:nvPr/>
        </p:nvSpPr>
        <p:spPr>
          <a:xfrm>
            <a:off x="5760720" y="224028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2313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1.129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evidential NLL (MC-dropout 1.630, SARIMA 1.813)</a:t>
            </a:r>
            <a:endParaRPr lang="en-US" sz="1100" dirty="0"/>
          </a:p>
        </p:txBody>
      </p:sp>
      <p:sp>
        <p:nvSpPr>
          <p:cNvPr id="10" name="calibration stat 3"/>
          <p:cNvSpPr/>
          <p:nvPr/>
        </p:nvSpPr>
        <p:spPr>
          <a:xfrm>
            <a:off x="5760720" y="338328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3456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pts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mean coverage gap (MC-dropout 3.3, SARIMA 4.6)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H1: traceability does not lower epistemic uncertainty</a:t>
            </a:r>
            <a:endParaRPr lang="en-US" sz="2600" dirty="0"/>
          </a:p>
        </p:txBody>
      </p:sp>
      <p:graphicFrame>
        <p:nvGraphicFramePr>
          <p:cNvPr id="3" name="H1 scatter" descr=""/>
          <p:cNvGraphicFramePr/>
          <p:nvPr/>
        </p:nvGraphicFramePr>
        <p:xfrm>
          <a:off x="365760" y="100584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1 verdict"/>
          <p:cNvSpPr/>
          <p:nvPr/>
        </p:nvSpPr>
        <p:spPr>
          <a:xfrm>
            <a:off x="5760720" y="10972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097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 SUPPORTED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554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Median epistemic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2.41 verified vs 2.57 unverified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1579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Mann-Whitney 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 = 0.48 (one-sided)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Spearman 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−0.09, p = 0.47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3649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OLS + controls (HC3)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coef −0.18, p = 0.55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9684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With commodity effects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coef 0.62, p = 0.59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partly supported; H3 not supported</a:t>
            </a:r>
            <a:endParaRPr lang="en-US" sz="2600" dirty="0"/>
          </a:p>
        </p:txBody>
      </p:sp>
      <p:sp>
        <p:nvSpPr>
          <p:cNvPr id="3" name="H2 card"/>
          <p:cNvSpPr/>
          <p:nvPr/>
        </p:nvSpPr>
        <p:spPr>
          <a:xfrm>
            <a:off x="457200" y="1051560"/>
            <a:ext cx="484632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H2 · uncertainty before recalls</a:t>
            </a:r>
            <a:endParaRPr lang="en-US" sz="1500" dirty="0"/>
          </a:p>
        </p:txBody>
      </p:sp>
      <p:sp>
        <p:nvSpPr>
          <p:cNvPr id="5" name="H2 verdict"/>
          <p:cNvSpPr/>
          <p:nvPr/>
        </p:nvSpPr>
        <p:spPr>
          <a:xfrm>
            <a:off x="3977640" y="11887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77640" y="1188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PARTLY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events: higher before the recall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1.14×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median pre / quiet ratio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0.010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Wilcoxon, evidential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0.18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Wilcoxon, MC-dropout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118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245 commodity-level events across 30 nodes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Result moved when matching rules were tightened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Only 5 recalls name an origin: node level untestable</a:t>
            </a:r>
            <a:endParaRPr lang="en-US" sz="1150" dirty="0"/>
          </a:p>
        </p:txBody>
      </p:sp>
      <p:sp>
        <p:nvSpPr>
          <p:cNvPr id="16" name="H3 card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H3 · perishability</a:t>
            </a:r>
            <a:endParaRPr lang="en-US" sz="1500" dirty="0"/>
          </a:p>
        </p:txBody>
      </p:sp>
      <p:sp>
        <p:nvSpPr>
          <p:cNvPr id="18" name="H3 verdict"/>
          <p:cNvSpPr/>
          <p:nvPr/>
        </p:nvSpPr>
        <p:spPr>
          <a:xfrm>
            <a:off x="5806440" y="16459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645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 SUPPORTED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214884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Perishable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28 vs 29 nodes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medians 2.34 vs 2.45, p = 0.63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Shelf-stable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8 vs 8 nodes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medians 2.75 vs 3.01, p = 0.29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600" dirty="0"/>
          </a:p>
        </p:txBody>
      </p:sp>
      <p:pic>
        <p:nvPicPr>
          <p:cNvPr id="3" name="use case diagram" descr="D:/harshancapstone/docs/figures/use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974" y="914400"/>
            <a:ext cx="5236052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2600" dirty="0"/>
          </a:p>
        </p:txBody>
      </p:sp>
      <p:pic>
        <p:nvPicPr>
          <p:cNvPr id="3" name="class diagram" descr="D:/harshancapstone/docs/figures/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012" y="914400"/>
            <a:ext cx="5343975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where can the forecast be trusted?</a:t>
            </a:r>
            <a:endParaRPr lang="en-US" sz="2600" dirty="0"/>
          </a:p>
        </p:txBody>
      </p:sp>
      <p:pic>
        <p:nvPicPr>
          <p:cNvPr id="3" name="supply map screenshot" descr="D:/harshancapstone/.scratch/deck/shot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3020"/>
            <a:ext cx="4023360" cy="2514600"/>
          </a:xfrm>
          <a:prstGeom prst="rect">
            <a:avLst/>
          </a:prstGeom>
        </p:spPr>
      </p:pic>
      <p:pic>
        <p:nvPicPr>
          <p:cNvPr id="4" name="node detail screenshot" descr="D:/harshancapstone/.scratch/deck/shots/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03020"/>
            <a:ext cx="4023360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9090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Supply map: 49 reliable · 3 volatile · 21 unreliable (Jul 2026)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9090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Node page: forecast, 80/95% band, both uncertainties, recalls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testing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Stack</a:t>
            </a:r>
            <a:endParaRPr lang="en-US" sz="1500" dirty="0"/>
          </a:p>
        </p:txBody>
      </p:sp>
      <p:sp>
        <p:nvSpPr>
          <p:cNvPr id="4" name="stack Python 3.12"/>
          <p:cNvSpPr/>
          <p:nvPr/>
        </p:nvSpPr>
        <p:spPr>
          <a:xfrm>
            <a:off x="457200" y="1417320"/>
            <a:ext cx="38404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Python 3.12 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pandas · statsmodels · scipy</a:t>
            </a:r>
            <a:endParaRPr lang="en-US" sz="1250" dirty="0"/>
          </a:p>
        </p:txBody>
      </p:sp>
      <p:sp>
        <p:nvSpPr>
          <p:cNvPr id="6" name="stack PyTorch 2.14"/>
          <p:cNvSpPr/>
          <p:nvPr/>
        </p:nvSpPr>
        <p:spPr>
          <a:xfrm>
            <a:off x="457200" y="2039112"/>
            <a:ext cx="38404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3911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PyTorch 2.14 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CUDA on RTX 3050</a:t>
            </a:r>
            <a:endParaRPr lang="en-US" sz="1250" dirty="0"/>
          </a:p>
        </p:txBody>
      </p:sp>
      <p:sp>
        <p:nvSpPr>
          <p:cNvPr id="8" name="stack FastAPI"/>
          <p:cNvSpPr/>
          <p:nvPr/>
        </p:nvSpPr>
        <p:spPr>
          <a:xfrm>
            <a:off x="457200" y="2660904"/>
            <a:ext cx="38404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609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FastAPI 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REST API, serves the dashboard</a:t>
            </a:r>
            <a:endParaRPr lang="en-US" sz="1250" dirty="0"/>
          </a:p>
        </p:txBody>
      </p:sp>
      <p:sp>
        <p:nvSpPr>
          <p:cNvPr id="10" name="stack SQLite"/>
          <p:cNvSpPr/>
          <p:nvPr/>
        </p:nvSpPr>
        <p:spPr>
          <a:xfrm>
            <a:off x="457200" y="3282696"/>
            <a:ext cx="38404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8269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SQLite 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ledger store</a:t>
            </a:r>
            <a:endParaRPr lang="en-US" sz="1250" dirty="0"/>
          </a:p>
        </p:txBody>
      </p:sp>
      <p:sp>
        <p:nvSpPr>
          <p:cNvPr id="12" name="stack React 19 + Vite"/>
          <p:cNvSpPr/>
          <p:nvPr/>
        </p:nvSpPr>
        <p:spPr>
          <a:xfrm>
            <a:off x="457200" y="3904488"/>
            <a:ext cx="38404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0448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React 19 + Vite 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Leaflet map · Recharts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Tests: 20 pytest cases, all passing</a:t>
            </a:r>
            <a:endParaRPr lang="en-US" sz="1500" dirty="0"/>
          </a:p>
        </p:txBody>
      </p:sp>
      <p:graphicFrame>
        <p:nvGraphicFramePr>
          <p:cNvPr id="15" name="tests chart" descr=""/>
          <p:cNvGraphicFramePr/>
          <p:nvPr/>
        </p:nvGraphicFramePr>
        <p:xfrm>
          <a:off x="4572000" y="132588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One-command setup, run and full rebuild scripts (setup.ps1, run.ps1, pipeline.ps1)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Installs entirely inside the project folder; tested on a second laptop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26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05156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ations circle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pic>
        <p:nvPicPr>
          <p:cNvPr id="5" name="limit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Imports are a proxy for demand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Recall matching is keyword-based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 recalls do not name an origin country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Record completeness ≠ blockchain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73 nodes limit statistical power</a:t>
            </a:r>
            <a:endParaRPr lang="en-US" sz="1300" dirty="0"/>
          </a:p>
        </p:txBody>
      </p:sp>
      <p:sp>
        <p:nvSpPr>
          <p:cNvPr id="8" name="future work card"/>
          <p:cNvSpPr/>
          <p:nvPr/>
        </p:nvSpPr>
        <p:spPr>
          <a:xfrm>
            <a:off x="4663440" y="105156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ture circle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10" name="futu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87452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Manual precision audit of recall matches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Node-level recall links via importer records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 epistemic uncertainty to a credit-risk premium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commodities and origin countries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best MASE of six models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coverage of the 90% interval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0.48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H1: no traceability effect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0.010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H2: suggestive lead signal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Calibrated uncertainty is the main contribution, not point accuracy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Null and fragile results are reported as they came 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Next: Review 2 report, recall-match audit, code on GitHub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A. Amini, W. Schwarting, A. Soleimany, D. Rus, “Deep Evidential Regression,” NeurIPS, 2020.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V. Kuleshov, N. Fenner, S. Ermon, “Accurate Uncertainties for Deep Learning Using Calibrated Regression,” ICML, 2018.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Y. Gal, Z. Ghahramani, “Dropout as a Bayesian Approximation,” ICML, 2016.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K. Cho et al., “Learning Phrase Representations using RNN Encoder–Decoder,” EMNLP, 2014.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G. Box, G. Jenkins, Time Series Analysis: Forecasting and Control, Holden-Day.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R. Hyndman, A. Koehler, “Another Look at Measures of Forecast Accuracy,” Int. J. Forecasting, 2006.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S. Nakamoto, “Bitcoin: A Peer-to-Peer Electronic Cash System,” 2008.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US FDA, Requirements for Additional Traceability Records for Certain Foods (FSMA §204), 21 CFR Part 1 Subpart S, 2022.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Data: UN Comtrade API; openFDA Food Enforcement; CDC NORS (data.cdc.gov).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Trace">
  <a:themeElements>
    <a:clrScheme name="FoodTrace">
      <a:dk1>
        <a:srgbClr val="1A2421"/>
      </a:dk1>
      <a:lt1>
        <a:srgbClr val="FFFFFF"/>
      </a:lt1>
      <a:dk2>
        <a:srgbClr val="16302B"/>
      </a:dk2>
      <a:lt2>
        <a:srgbClr val="EEF3F0"/>
      </a:lt2>
      <a:accent1>
        <a:srgbClr val="2E7D5B"/>
      </a:accent1>
      <a:accent2>
        <a:srgbClr val="E05A3A"/>
      </a:accent2>
      <a:accent3>
        <a:srgbClr val="E8A33D"/>
      </a:accent3>
      <a:accent4>
        <a:srgbClr val="5B6B66"/>
      </a:accent4>
      <a:accent5>
        <a:srgbClr val="9FB8AD"/>
      </a:accent5>
      <a:accent6>
        <a:srgbClr val="3A6EA5"/>
      </a:accent6>
      <a:hlink>
        <a:srgbClr val="2E7D5B"/>
      </a:hlink>
      <a:folHlink>
        <a:srgbClr val="5B6B66"/>
      </a:folHlink>
    </a:clrScheme>
    <a:fontScheme name="FoodTra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FoodTrace - Review 2</dc:title>
  <dc:subject>PptxGenJS Presentation</dc:subject>
  <dc:creator>PptxGenJS</dc:creator>
  <cp:lastModifiedBy>PptxGenJS</cp:lastModifiedBy>
  <cp:revision>1</cp:revision>
  <dcterms:created xsi:type="dcterms:W3CDTF">2026-10-06T20:40:36Z</dcterms:created>
  <dcterms:modified xsi:type="dcterms:W3CDTF">2026-10-06T20:40:36Z</dcterms:modified>
</cp:coreProperties>
</file>